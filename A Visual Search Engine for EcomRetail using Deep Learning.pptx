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267" r:id="rId3"/>
    <p:sldId id="289" r:id="rId4"/>
    <p:sldId id="288" r:id="rId5"/>
    <p:sldId id="322" r:id="rId6"/>
    <p:sldId id="325" r:id="rId7"/>
    <p:sldId id="265" r:id="rId8"/>
    <p:sldId id="304" r:id="rId9"/>
    <p:sldId id="273" r:id="rId10"/>
    <p:sldId id="326" r:id="rId11"/>
    <p:sldId id="270" r:id="rId12"/>
    <p:sldId id="274" r:id="rId13"/>
    <p:sldId id="275" r:id="rId14"/>
    <p:sldId id="308" r:id="rId15"/>
    <p:sldId id="309" r:id="rId16"/>
    <p:sldId id="310" r:id="rId17"/>
    <p:sldId id="311" r:id="rId18"/>
    <p:sldId id="276" r:id="rId19"/>
    <p:sldId id="281" r:id="rId20"/>
    <p:sldId id="277" r:id="rId21"/>
    <p:sldId id="279" r:id="rId22"/>
    <p:sldId id="316" r:id="rId23"/>
    <p:sldId id="280" r:id="rId24"/>
    <p:sldId id="291" r:id="rId25"/>
    <p:sldId id="297" r:id="rId26"/>
    <p:sldId id="300" r:id="rId27"/>
    <p:sldId id="305" r:id="rId28"/>
    <p:sldId id="314" r:id="rId29"/>
    <p:sldId id="324" r:id="rId30"/>
    <p:sldId id="315" r:id="rId31"/>
    <p:sldId id="317" r:id="rId32"/>
    <p:sldId id="318" r:id="rId33"/>
    <p:sldId id="319" r:id="rId34"/>
    <p:sldId id="320" r:id="rId35"/>
    <p:sldId id="321" r:id="rId36"/>
    <p:sldId id="323" r:id="rId37"/>
    <p:sldId id="287" r:id="rId38"/>
    <p:sldId id="259" r:id="rId3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>
      <p:cViewPr varScale="1">
        <p:scale>
          <a:sx n="99" d="100"/>
          <a:sy n="99" d="100"/>
        </p:scale>
        <p:origin x="-486" y="-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281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3E796-D1B2-4A06-B077-8105229DC72A}" type="datetimeFigureOut">
              <a:rPr lang="en-US" smtClean="0"/>
              <a:t>1/19/2018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F74D4-C230-4DB5-83A5-B13586893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53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85A582-13C2-4352-8F8F-18A92EDEBC03}" type="datetimeFigureOut">
              <a:rPr lang="en-US" smtClean="0"/>
              <a:t>1/19/2018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162C2-4A66-4997-9974-1E8D4A5D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75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162C2-4A66-4997-9974-1E8D4A5DCD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21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:\Marketing\2 Marketing Stationery\Images\Images 2017\Aravind\Commercial-Buildings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flipH="1">
            <a:off x="-1" y="0"/>
            <a:ext cx="9143999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:\Aravind\stock-photo-corporate-building-concept-glassy-modern-architecture-concept-realistic-d-render-illustration-278206394.jpg"/>
          <p:cNvPicPr preferRelativeResize="0">
            <a:picLocks noChangeArrowheads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6350" y="0"/>
            <a:ext cx="764052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501ABECC-6667-49F2-80BB-10F9A011D4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807233" y="193046"/>
            <a:ext cx="1220811" cy="45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534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4F2E9010-E402-484E-857D-B3A598F8EFCC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48177454-1B22-4023-A6AC-30204165849A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xmlns="" id="{50B6C2AB-5FAE-4C27-95DA-4CF28EB8D1E1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xmlns="" id="{D15CB5F2-CF40-480D-8EB2-20551D2504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685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D957094A-2B86-4B1F-ADE4-156A8BB83045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A02018CD-B1D3-405B-B809-CC02BDBF8214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xmlns="" id="{652AD8A5-34D2-45AD-A694-ED0535641CF9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xmlns="" id="{82A7808B-1367-4FF8-A821-313E608789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038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F31A0581-EFB3-4D36-B404-AF8D512D69C6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F117BAFA-2BAF-44E1-A3B8-3DDA1CAEB059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xmlns="" id="{6D64F18B-4C40-4AFC-860E-F989A097927B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xmlns="" id="{223D73F3-A700-4F20-AE8E-6AE0EA731E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038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33F973B7-1E69-4038-8FC4-4581535278D2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AD500078-0BE9-4EC0-8342-356A9A10B9FD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xmlns="" id="{F393BE4B-9815-4C10-8FE5-AA2483745CDD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xmlns="" id="{344EF00D-B332-4D82-8ECD-15D51316AD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41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431C5D06-9E0C-459C-A98C-46DD053BB33F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60A57FDB-5791-4E10-86FA-7D14AA7B879B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xmlns="" id="{BBF67C82-29AC-4339-9439-2569B7A58483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xmlns="" id="{D9914D1E-1A21-48EC-AF72-B4B3B3AAE0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41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EF5EF700-75DD-47C4-B278-E7054D963641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F19F7902-D999-4512-974E-7952BB3E3678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xmlns="" id="{1A6351E1-5A1A-4E72-B0BB-DA805A7F63A9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xmlns="" id="{67114985-63D9-49C3-89B3-187DA715E9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364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78F7367C-1515-47EE-AA72-57C716B9E949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C6C45CC6-BEAE-451E-AB8F-3661D1A097E1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xmlns="" id="{3B77860C-C1E8-4BC2-93CE-5BB5D0205E45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xmlns="" id="{55D2F32D-EFAB-49EC-8B64-3984103B13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86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2819399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12" name="Flowchart: Data 11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Data 13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6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7FC0D96-1A42-4507-BE32-BA3EB4627BF2}"/>
              </a:ext>
            </a:extLst>
          </p:cNvPr>
          <p:cNvSpPr/>
          <p:nvPr/>
        </p:nvSpPr>
        <p:spPr>
          <a:xfrm>
            <a:off x="0" y="4226378"/>
            <a:ext cx="9139518" cy="684000"/>
          </a:xfrm>
          <a:prstGeom prst="rect">
            <a:avLst/>
          </a:prstGeom>
          <a:solidFill>
            <a:schemeClr val="bg1">
              <a:alpha val="79000"/>
            </a:schemeClr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Bef>
                <a:spcPts val="300"/>
              </a:spcBef>
              <a:buClr>
                <a:srgbClr val="666666"/>
              </a:buClr>
            </a:pPr>
            <a:endParaRPr lang="en-US" sz="1100" dirty="0"/>
          </a:p>
          <a:p>
            <a:pPr lvl="1">
              <a:lnSpc>
                <a:spcPct val="150000"/>
              </a:lnSpc>
              <a:spcBef>
                <a:spcPts val="300"/>
              </a:spcBef>
              <a:buClr>
                <a:srgbClr val="666666"/>
              </a:buClr>
            </a:pPr>
            <a:endParaRPr lang="en-US" sz="11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904F803A-CB6F-41EA-B34E-C06E13678075}"/>
              </a:ext>
            </a:extLst>
          </p:cNvPr>
          <p:cNvGrpSpPr/>
          <p:nvPr userDrawn="1"/>
        </p:nvGrpSpPr>
        <p:grpSpPr>
          <a:xfrm>
            <a:off x="668526" y="4323670"/>
            <a:ext cx="7883148" cy="458628"/>
            <a:chOff x="668526" y="4323670"/>
            <a:chExt cx="7883148" cy="458628"/>
          </a:xfrm>
        </p:grpSpPr>
        <p:pic>
          <p:nvPicPr>
            <p:cNvPr id="5" name="Picture 3" descr="C:\Users\avijayan\Desktop\app consulting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526" y="4324418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C:\Users\avijayan\Desktop\app staffing.pn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9245" y="4324418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C:\Users\avijayan\Desktop\app clod.png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0683" y="4324370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C:\Users\avijayan\Desktop\Applexus logos\app Managed Services.png"/>
            <p:cNvPicPr>
              <a:picLocks noChangeAspect="1" noChangeArrowheads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1400" y="4323670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C:\Users\avijayan\Desktop\Applexus logos\App Products and Innovation.png"/>
            <p:cNvPicPr>
              <a:picLocks noChangeAspect="1" noChangeArrowheads="1"/>
            </p:cNvPicPr>
            <p:nvPr userDrawn="1"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9602" y="4323670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4D4A4485-E609-416C-9E63-967C09DB78A0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E39CABDE-24BD-46F8-9590-0F09A084932A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xmlns="" id="{983E6170-D6DE-418B-8933-BA5D6BCE4BA9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5" name="Picture 2">
            <a:extLst>
              <a:ext uri="{FF2B5EF4-FFF2-40B4-BE49-F238E27FC236}">
                <a16:creationId xmlns:a16="http://schemas.microsoft.com/office/drawing/2014/main" xmlns="" id="{2180C30B-558C-4875-8AAD-3D715009FF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934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7" name="Flowchart: Data 6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Data 8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1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2B5ACE70-E501-47F4-81C1-8BC5C2CC2C9D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551646FD-70DC-4333-8D17-B12966C265AE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xmlns="" id="{ED0FA7C8-1D60-4B1E-8AD4-169FB179D7EC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xmlns="" id="{EF10AC7F-27CC-41FE-9A08-FE79E150C7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332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2743199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7" name="Flowchart: Data 6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Data 8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1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/>
          <p:cNvGrpSpPr/>
          <p:nvPr userDrawn="1"/>
        </p:nvGrpSpPr>
        <p:grpSpPr>
          <a:xfrm>
            <a:off x="0" y="4226378"/>
            <a:ext cx="9139518" cy="684000"/>
            <a:chOff x="0" y="4226378"/>
            <a:chExt cx="9139518" cy="684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67FC0D96-1A42-4507-BE32-BA3EB4627BF2}"/>
                </a:ext>
              </a:extLst>
            </p:cNvPr>
            <p:cNvSpPr/>
            <p:nvPr/>
          </p:nvSpPr>
          <p:spPr>
            <a:xfrm>
              <a:off x="0" y="4226378"/>
              <a:ext cx="9139518" cy="68400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</p:spPr>
          <p:txBody>
            <a:bodyPr wrap="square">
              <a:spAutoFit/>
            </a:bodyPr>
            <a:lstStyle/>
            <a:p>
              <a:pPr lvl="1">
                <a:lnSpc>
                  <a:spcPct val="150000"/>
                </a:lnSpc>
                <a:spcBef>
                  <a:spcPts val="300"/>
                </a:spcBef>
                <a:buClr>
                  <a:srgbClr val="666666"/>
                </a:buClr>
              </a:pPr>
              <a:endParaRPr lang="en-US" sz="1100" dirty="0"/>
            </a:p>
            <a:p>
              <a:pPr lvl="1">
                <a:lnSpc>
                  <a:spcPct val="150000"/>
                </a:lnSpc>
                <a:spcBef>
                  <a:spcPts val="300"/>
                </a:spcBef>
                <a:buClr>
                  <a:srgbClr val="666666"/>
                </a:buClr>
              </a:pPr>
              <a:endParaRPr lang="en-US" sz="1100" dirty="0"/>
            </a:p>
          </p:txBody>
        </p:sp>
        <p:pic>
          <p:nvPicPr>
            <p:cNvPr id="18" name="Picture 3" descr="C:\Users\avijayan\Desktop\app consulting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526" y="4324418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4" descr="C:\Users\avijayan\Desktop\app staffing.pn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3726" y="4324418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5" descr="C:\Users\avijayan\Desktop\app labs.png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8926" y="4331555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6" descr="C:\Users\avijayan\Desktop\app clod.png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74126" y="4332321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07718460-BE91-4812-A0F2-F234BFAF86A0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xmlns="" id="{DF2689A1-7B75-45C7-9E06-9920BAD16BCB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xmlns="" id="{73E1B979-0953-4667-89EC-8399F0D9A4F0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6" name="Picture 2">
            <a:extLst>
              <a:ext uri="{FF2B5EF4-FFF2-40B4-BE49-F238E27FC236}">
                <a16:creationId xmlns:a16="http://schemas.microsoft.com/office/drawing/2014/main" xmlns="" id="{2E4F36B2-FE20-4BD5-910E-72F4D893F5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272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2647950"/>
            <a:ext cx="7772400" cy="640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3409950"/>
            <a:ext cx="7772400" cy="112514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Text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4259A78-AA43-4A6A-900D-EE2D30F8E720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875215B7-B25D-4F0B-8702-FB348D9014AC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xmlns="" id="{B4CB8F2E-4E26-4972-A75F-6F2157B572C1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xmlns="" id="{08DCE91F-B240-49CA-BC1B-B7A6E0E607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707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976313"/>
            <a:ext cx="4038600" cy="197643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976313"/>
            <a:ext cx="4038600" cy="197643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pic>
        <p:nvPicPr>
          <p:cNvPr id="5125" name="Picture 5" descr="K:\Marketing\2 Marketing Stationery\Images\Images 2017\Aravind\OB824Z0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57201" y="3095625"/>
            <a:ext cx="82296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8" name="Flowchart: Data 7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Process 9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Data 10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3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4674439F-8003-4405-9D85-95DC9D40B767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30128605-53D7-419D-9A89-35FC78A63921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xmlns="" id="{50E258C9-6586-4D94-BDE2-E13842D4A3DD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2" name="Picture 2">
            <a:extLst>
              <a:ext uri="{FF2B5EF4-FFF2-40B4-BE49-F238E27FC236}">
                <a16:creationId xmlns:a16="http://schemas.microsoft.com/office/drawing/2014/main" xmlns="" id="{8EEB3A2E-A2AC-4F6F-AA88-4123E18D4A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712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57200" y="1657350"/>
            <a:ext cx="4038600" cy="197643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657350"/>
            <a:ext cx="4038600" cy="197643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9" name="Flowchart: Data 8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Data 13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6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4EAEC4E0-C524-4EF1-9B57-89512582D5A8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9054FDEC-291D-43D1-92DC-D40D881903BB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xmlns="" id="{7B7E328D-94A3-47AE-9FB0-B077A6D299AD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4" name="Picture 2">
            <a:extLst>
              <a:ext uri="{FF2B5EF4-FFF2-40B4-BE49-F238E27FC236}">
                <a16:creationId xmlns:a16="http://schemas.microsoft.com/office/drawing/2014/main" xmlns="" id="{4FBF81C2-9BFC-4567-87BF-9DE8B77B97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567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2114550"/>
            <a:ext cx="7772400" cy="640556"/>
          </a:xfrm>
          <a:prstGeom prst="rect">
            <a:avLst/>
          </a:prstGeo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 dirty="0"/>
              <a:t>HEADING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5" name="Flowchart: Data 4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83688F4-938B-49B1-A359-5954182187EF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F6AC392B-187F-4491-89D5-41B82C575E60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xmlns="" id="{D9181D33-AE72-4588-9DCD-527A2C839090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2" name="Picture 2">
            <a:extLst>
              <a:ext uri="{FF2B5EF4-FFF2-40B4-BE49-F238E27FC236}">
                <a16:creationId xmlns:a16="http://schemas.microsoft.com/office/drawing/2014/main" xmlns="" id="{5F1BD683-8148-4D66-A820-558D93D209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9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5" name="Flowchart: Data 4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5233FCE0-806F-437D-B6CD-F04C702BBEBB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C31DD396-1B9F-49EE-85F7-22EF32818A47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xmlns="" id="{C29C5D4B-6224-4179-9C1B-96FE5358AEDE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2" name="Picture 2">
            <a:extLst>
              <a:ext uri="{FF2B5EF4-FFF2-40B4-BE49-F238E27FC236}">
                <a16:creationId xmlns:a16="http://schemas.microsoft.com/office/drawing/2014/main" xmlns="" id="{4795435E-9C37-45A8-A6C1-277CD22309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495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3" y="195262"/>
            <a:ext cx="4648197" cy="471488"/>
          </a:xfrm>
          <a:prstGeom prst="rect">
            <a:avLst/>
          </a:prstGeom>
        </p:spPr>
        <p:txBody>
          <a:bodyPr anchor="t"/>
          <a:lstStyle>
            <a:lvl1pPr algn="l">
              <a:defRPr sz="2400" b="1"/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3" y="819150"/>
            <a:ext cx="3008313" cy="36576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text, graphs, pictures and videos</a:t>
            </a:r>
          </a:p>
          <a:p>
            <a:pPr lvl="0"/>
            <a:endParaRPr lang="en-US" dirty="0"/>
          </a:p>
        </p:txBody>
      </p:sp>
      <p:pic>
        <p:nvPicPr>
          <p:cNvPr id="9" name="Picture 6" descr="K:\Marketing\2 Marketing Stationery\Images\Images 2017\Aravind\social-media-recruiting-1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81400" y="819150"/>
            <a:ext cx="54102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7" name="Flowchart: Data 6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Data 9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2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5EE7C157-C4AF-4772-9C9E-52D13B551A02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42C499F9-DB36-4BE5-B268-BE35BF38C932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xmlns="" id="{C053DCED-D2C0-412E-BD21-1361859795FB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4" name="Picture 2">
            <a:extLst>
              <a:ext uri="{FF2B5EF4-FFF2-40B4-BE49-F238E27FC236}">
                <a16:creationId xmlns:a16="http://schemas.microsoft.com/office/drawing/2014/main" xmlns="" id="{7ABE6F78-13EC-464F-ADA5-59827E9C58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010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361950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404455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6146" name="Picture 2" descr="K:\Marketing\2 Marketing Stationery\Images\Images 2017\Aravind\ss-fashion-retail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86081" y="456643"/>
            <a:ext cx="5519593" cy="310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7" name="Flowchart: Data 6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Data 8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1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/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3" name="Rectangle 12"/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xmlns="" id="{93F57FA3-8406-478D-9E27-9B6806B420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2071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6" descr="S:\Aravind\stock-photo-corporate-building-concept-glassy-modern-architecture-concept-realistic-d-render-illustration-278206394.jpg"/>
          <p:cNvPicPr preferRelativeResize="0">
            <a:picLocks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6350" y="0"/>
            <a:ext cx="9153144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2209800" y="1581150"/>
            <a:ext cx="495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25"/>
              </a:spcBef>
              <a:spcAft>
                <a:spcPts val="900"/>
              </a:spcAft>
              <a:buClr>
                <a:srgbClr val="FFC000"/>
              </a:buClr>
            </a:pPr>
            <a:r>
              <a:rPr lang="en-US" sz="6000" b="1" dirty="0">
                <a:solidFill>
                  <a:srgbClr val="00B0F0"/>
                </a:solidFill>
                <a:latin typeface="+mj-lt"/>
                <a:cs typeface="Aharoni" pitchFamily="2" charset="-79"/>
              </a:rPr>
              <a:t>THANK YOU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-6350" y="3875810"/>
            <a:ext cx="2303105" cy="1286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2296754" y="3875810"/>
            <a:ext cx="2286001" cy="1267690"/>
          </a:xfrm>
          <a:prstGeom prst="rect">
            <a:avLst/>
          </a:prstGeom>
          <a:solidFill>
            <a:srgbClr val="00B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>
          <a:xfrm>
            <a:off x="4582755" y="3875810"/>
            <a:ext cx="2286001" cy="1267690"/>
          </a:xfrm>
          <a:prstGeom prst="rect">
            <a:avLst/>
          </a:prstGeom>
          <a:solidFill>
            <a:srgbClr val="6BA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 userDrawn="1"/>
        </p:nvSpPr>
        <p:spPr>
          <a:xfrm>
            <a:off x="6868757" y="3875810"/>
            <a:ext cx="2275244" cy="12676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3" descr="D:\Work\Profile_Applexus\2017\phone-512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89366" y="4255063"/>
            <a:ext cx="296779" cy="296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/>
          <p:cNvSpPr/>
          <p:nvPr userDrawn="1"/>
        </p:nvSpPr>
        <p:spPr>
          <a:xfrm>
            <a:off x="7504207" y="4627104"/>
            <a:ext cx="1106392" cy="2501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95300" indent="-495300" algn="ctr">
              <a:lnSpc>
                <a:spcPct val="114000"/>
              </a:lnSpc>
              <a:buNone/>
            </a:pPr>
            <a:r>
              <a:rPr lang="it-IT" sz="900" dirty="0">
                <a:cs typeface="Arial" pitchFamily="34" charset="0"/>
              </a:rPr>
              <a:t>www.applexus.com</a:t>
            </a:r>
          </a:p>
        </p:txBody>
      </p:sp>
      <p:pic>
        <p:nvPicPr>
          <p:cNvPr id="27" name="Picture 4" descr="D:\Work\Profile_Applexus\2017\4e78249a927e4a968e9de81e1ad75e75 (1).png"/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62812" y="4255063"/>
            <a:ext cx="297887" cy="29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5" descr="D:\Work\Profile_Applexus\2017\jean-victor-balin-icon-letter-mail (1).png"/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68381" y="4255063"/>
            <a:ext cx="340278" cy="24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 descr="D:\Work\Ap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86800" y="133350"/>
            <a:ext cx="330896" cy="33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C:\Users\avijayan\Desktop\applexus_logo_300dpi.png"/>
          <p:cNvPicPr>
            <a:picLocks noChangeAspect="1" noChangeArrowheads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270" y="4295137"/>
            <a:ext cx="1312439" cy="48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293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:\Marketing\2 Marketing Stationery\Images\Images 2017\Aravind\Commercial-Buildings.jpg">
            <a:extLst>
              <a:ext uri="{FF2B5EF4-FFF2-40B4-BE49-F238E27FC236}">
                <a16:creationId xmlns:a16="http://schemas.microsoft.com/office/drawing/2014/main" xmlns="" id="{1C0D9CFB-12B8-48CD-9C86-012F372D2F0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flipH="1">
            <a:off x="-2" y="0"/>
            <a:ext cx="9143999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5" name="Flowchart: Data 4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Data 6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9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xmlns="" id="{D93E9A19-31EE-4929-9118-4057630B7C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D2A9DDFB-87D5-4578-B01B-D18CB8909752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D94D52BB-1CA3-4782-8EF7-07357D211E18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xmlns="" id="{5C778206-CE48-40E7-855B-8A7C4DE31A87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74306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01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0" r:id="rId9"/>
    <p:sldLayoutId id="2147483659" r:id="rId10"/>
    <p:sldLayoutId id="2147483661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  <p:sldLayoutId id="2147483668" r:id="rId20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733550"/>
            <a:ext cx="7620001" cy="1066800"/>
          </a:xfrm>
          <a:prstGeom prst="rect">
            <a:avLst/>
          </a:prstGeom>
          <a:solidFill>
            <a:srgbClr val="00B0F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01" y="3562350"/>
            <a:ext cx="1534632" cy="1066800"/>
          </a:xfrm>
          <a:prstGeom prst="rect">
            <a:avLst/>
          </a:prstGeom>
          <a:solidFill>
            <a:srgbClr val="0070C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648200"/>
            <a:ext cx="9154632" cy="51435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19002" y="1676221"/>
            <a:ext cx="6840334" cy="120032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Visual Search Engine for </a:t>
            </a:r>
          </a:p>
          <a:p>
            <a:pPr algn="ctr"/>
            <a:r>
              <a:rPr lang="en-US" sz="36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Ecom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/Retail using Deep Learning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939169" y="4884874"/>
            <a:ext cx="1265663" cy="200055"/>
            <a:chOff x="7802137" y="4889779"/>
            <a:chExt cx="1265663" cy="200055"/>
          </a:xfrm>
        </p:grpSpPr>
        <p:sp>
          <p:nvSpPr>
            <p:cNvPr id="10" name="Flowchart: Data 9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Process 10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Data 11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4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Rectangle 14"/>
          <p:cNvSpPr/>
          <p:nvPr/>
        </p:nvSpPr>
        <p:spPr>
          <a:xfrm>
            <a:off x="3505200" y="3562350"/>
            <a:ext cx="4114800" cy="1066800"/>
          </a:xfrm>
          <a:prstGeom prst="rect">
            <a:avLst/>
          </a:prstGeom>
          <a:solidFill>
            <a:srgbClr val="00B0F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 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Abin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Abraham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Oommen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Guided by       : Dr. Thomas Koickal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22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DD05AA6B-4E4B-464B-855B-DA863E877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112" y="1581150"/>
            <a:ext cx="3647875" cy="330562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286500" algn="r"/>
              </a:tabLst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  <a:tabLst>
                <a:tab pos="6286500" algn="r"/>
              </a:tabLs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286500" algn="r"/>
              </a:tabLs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  <a:tabLst>
                <a:tab pos="6286500" algn="r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86500" algn="r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286500" algn="r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286500" algn="r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286500" algn="r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286500" algn="r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182880" indent="-18288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 marL="182880" indent="-18288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description</a:t>
            </a:r>
          </a:p>
          <a:p>
            <a:pPr marL="182880" indent="-18288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 case</a:t>
            </a:r>
            <a:endParaRPr lang="en-US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 database</a:t>
            </a:r>
            <a:endParaRPr lang="en-US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</a:t>
            </a:r>
          </a:p>
          <a:p>
            <a:pPr marL="182880" indent="-18288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</a:t>
            </a:r>
          </a:p>
          <a:p>
            <a:pPr marL="182880" indent="-18288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Identification</a:t>
            </a:r>
            <a:endParaRPr lang="en-US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HOG feature extraction</a:t>
            </a:r>
          </a:p>
          <a:p>
            <a:pPr marL="182880" indent="-18288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dataset</a:t>
            </a:r>
          </a:p>
          <a:p>
            <a:pPr marL="182880" indent="-18288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Measurement</a:t>
            </a:r>
          </a:p>
          <a:p>
            <a:pPr marL="182880" indent="-18288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182880" indent="-18288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US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388962F2-9A80-472B-B7B1-A4D0970510B3}"/>
              </a:ext>
            </a:extLst>
          </p:cNvPr>
          <p:cNvSpPr txBox="1">
            <a:spLocks/>
          </p:cNvSpPr>
          <p:nvPr/>
        </p:nvSpPr>
        <p:spPr>
          <a:xfrm>
            <a:off x="2590800" y="3623550"/>
            <a:ext cx="1209585" cy="396000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TOPICS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038600" y="2952749"/>
            <a:ext cx="0" cy="172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098E448-8B26-464A-91DA-066DD6BD9B00}"/>
              </a:ext>
            </a:extLst>
          </p:cNvPr>
          <p:cNvSpPr txBox="1"/>
          <p:nvPr/>
        </p:nvSpPr>
        <p:spPr>
          <a:xfrm>
            <a:off x="353688" y="4886779"/>
            <a:ext cx="1295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DECEMBER 2017</a:t>
            </a:r>
          </a:p>
        </p:txBody>
      </p:sp>
    </p:spTree>
    <p:extLst>
      <p:ext uri="{BB962C8B-B14F-4D97-AF65-F5344CB8AC3E}">
        <p14:creationId xmlns:p14="http://schemas.microsoft.com/office/powerpoint/2010/main" val="201032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4950"/>
            <a:ext cx="8229600" cy="2971799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identifies the object from its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 and finds the most similar products using deep learning and a visual search on the product database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just upload the product image and our system will display its most similar products and their details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works by comparing the input image with all the images in product database and selects the most similar images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30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C:\Users\ababraha\Documents\blockdgm7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95350"/>
            <a:ext cx="80772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3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two main processes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is to upload a product image and its category is identified using deep learning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 identified product category is not in the database it shows as not available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 identified product category is in the database, Query image’s feature calculated and is compared with the database to find most similar images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Finally it displays the most similar products and its descriptions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Description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24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babraha\Pictures\im89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895350"/>
            <a:ext cx="51054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 case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39015" y="120015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Ecom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with product discovery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00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Images Database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917" y="1428750"/>
            <a:ext cx="8229600" cy="3394472"/>
          </a:xfrm>
        </p:spPr>
        <p:txBody>
          <a:bodyPr/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consists of the images we have collected for product search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the product images are saved on the same directory or server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the images in the database should be of same type(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JPG,PNG,BMP,etc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but can have different sizes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AB40B16-1E00-4613-AB8D-6309D71E1A64}"/>
              </a:ext>
            </a:extLst>
          </p:cNvPr>
          <p:cNvSpPr txBox="1"/>
          <p:nvPr/>
        </p:nvSpPr>
        <p:spPr>
          <a:xfrm>
            <a:off x="353688" y="4886779"/>
            <a:ext cx="1295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DECEMBER 2017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45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babraha\Pictures\3-2-database-free-download-png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233" y="978753"/>
            <a:ext cx="338833" cy="31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ababraha\Pictures\im1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297959"/>
            <a:ext cx="78105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19200" y="983218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Bag Database – 1784 items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Images Database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17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95244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T-shirt Database – 18325 items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C:\Users\ababraha\Pictures\3-2-database-free-download-png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233" y="978753"/>
            <a:ext cx="338833" cy="31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Images Database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C:\Users\ababraha\Pictures\im11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7959"/>
            <a:ext cx="7848600" cy="3559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30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Images Database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9200" y="952440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 Database – 11862 items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C:\Users\ababraha\Pictures\3-2-database-free-download-png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233" y="978753"/>
            <a:ext cx="338833" cy="31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C:\Users\ababraha\Pictures\im1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7960"/>
            <a:ext cx="7848600" cy="355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9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DFAF91-B53B-4FB2-B6B8-EBAE2A17C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Pre-processing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BAE694-6080-43F8-B292-259429318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71550"/>
            <a:ext cx="8229600" cy="3810000"/>
          </a:xfrm>
        </p:spPr>
        <p:txBody>
          <a:bodyPr/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consists of RGB images of any specific size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converts the image into a square size but preserves the shape of the image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done by padding extra matrices row wise or column wise to the image matrix so that row and column sizes will becomes equal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image width is greater, then append white images to the upper and bottom part of the image so that it will become square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image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height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greater, then append white images to the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of the image so that it will become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convert the image into a common square size and converts the RGB image into a grayscale image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 smtClean="0"/>
          </a:p>
          <a:p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EC901DB-E112-4807-AD7C-723A9C9D61DD}"/>
              </a:ext>
            </a:extLst>
          </p:cNvPr>
          <p:cNvSpPr txBox="1"/>
          <p:nvPr/>
        </p:nvSpPr>
        <p:spPr>
          <a:xfrm>
            <a:off x="353688" y="4886779"/>
            <a:ext cx="1295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DECEMBER 2017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85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babraha\Pictures\im14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63675"/>
            <a:ext cx="6019800" cy="339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29DFAF91-B53B-4FB2-B6B8-EBAE2A17C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7380000" cy="613171"/>
          </a:xfrm>
        </p:spPr>
        <p:txBody>
          <a:bodyPr/>
          <a:lstStyle/>
          <a:p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Pre-processing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295400" y="1059418"/>
            <a:ext cx="4800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for preprocessing image horizontal wise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82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babraha\Pictures\im1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28750"/>
            <a:ext cx="61722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xmlns="" id="{29DFAF91-B53B-4FB2-B6B8-EBAE2A17C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7380000" cy="613171"/>
          </a:xfrm>
        </p:spPr>
        <p:txBody>
          <a:bodyPr/>
          <a:lstStyle/>
          <a:p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Pre-processing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5400" y="1059418"/>
            <a:ext cx="4800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for preprocessing image vertical wise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80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2819399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is a highly accurate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by Microsoft research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size is small because it uses global average pooling instead of fully connected layers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memory cost and accuracy exceeds VGG and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GoogleNet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is easier than simple deep CNN &amp; the problem of degrading accuracy is solved</a:t>
            </a: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65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3124199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layers of similar blocks with "bypass connections" shown as the x identity below</a:t>
            </a:r>
          </a:p>
          <a:p>
            <a:endParaRPr lang="en-US" dirty="0"/>
          </a:p>
        </p:txBody>
      </p:sp>
      <p:pic>
        <p:nvPicPr>
          <p:cNvPr id="4" name="Picture 3" descr="C:\Users\ababraha\Pictures\resnet_block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924" y="2400300"/>
            <a:ext cx="329565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10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learning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 learning some residuals instead of learning features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is simply subtraction of feature learned from input of the layer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done using shortcut connections.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connecting input of nth layer to 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n+x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layer.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is resized into the size of 224*224  which is the required input dimension for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model. So image size becomes 224*224*3.</a:t>
            </a:r>
          </a:p>
          <a:p>
            <a:endParaRPr lang="en-US" sz="2000" dirty="0" smtClean="0"/>
          </a:p>
          <a:p>
            <a:endParaRPr lang="en-US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60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Identification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 we pass the preprocessed image to the model and get it predicted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are actually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 with 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entries and the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predicted probabilities associated with each class in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we find the maximum probability value and its corresponding class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 corresponding to the obtained class is our identification result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 product identified is out of our collection, then it will be shown as not available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3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Hog Feature Extraction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403860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eature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descriptor is a representation of an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simplifies the image by extracting useful information and throwing away extraneous information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HOG(Histogram of Oriented Gradients) feature detector extracts information on the shape and intensity variation of the object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HOG feature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descriptor, 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(histograms)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directions of gradients ( oriented gradients ) are used as features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Gradients ( x and y derivatives ) of an image are useful because the magnitude of gradients is large around edges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corners and that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 in a lot more information about object shape than flat regions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the name indicates, HOG finds the histograms of gradients of image blocks and combines all the histograms to get the final descriptor.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70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babraha\Pictures\im15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81150"/>
            <a:ext cx="48768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Hog Feature Extraction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752600" y="1200150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for a product  and its HOG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69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Dataset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4950"/>
            <a:ext cx="8229600" cy="3394472"/>
          </a:xfrm>
        </p:spPr>
        <p:txBody>
          <a:bodyPr/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HOG feature of all the images in the database is calculated.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the HOG features are combined vertically to get a matrix which can be called as feature dataset.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have 100 images in database and each image has feature of size 1*1500, then we get feature dataset of size 100*1500.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04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Measurement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95350"/>
                <a:ext cx="8229600" cy="3962400"/>
              </a:xfrm>
            </p:spPr>
            <p:txBody>
              <a:bodyPr/>
              <a:lstStyle/>
              <a:p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 Euclidean distance for similarity measurement</a:t>
                </a:r>
              </a:p>
              <a:p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the straight-line distance between two arrays</a:t>
                </a: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distance between two 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arrays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defined as the square root of the sum of the squares of the differences between the corresponding 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 of the arrays</a:t>
                </a: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equation for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euclidean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between two 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vectors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(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a1, a2)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b = (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b1, b2)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defined as : </a:t>
                </a:r>
                <a:endParaRPr lang="en-US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US" sz="1800" b="0" i="1" smtClean="0"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8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/>
                              </a:rPr>
                              <m:t>𝑎</m:t>
                            </m:r>
                            <m:r>
                              <a:rPr lang="en-US" sz="1800" b="0" i="1" smtClean="0">
                                <a:latin typeface="Cambria Math"/>
                              </a:rPr>
                              <m:t>1−</m:t>
                            </m:r>
                            <m:r>
                              <a:rPr lang="en-US" sz="1800" b="0" i="1" smtClean="0">
                                <a:latin typeface="Cambria Math"/>
                              </a:rPr>
                              <m:t>𝑏</m:t>
                            </m:r>
                            <m:r>
                              <a:rPr lang="en-US" sz="1800" b="0" i="1" smtClean="0">
                                <a:latin typeface="Cambria Math"/>
                              </a:rPr>
                              <m:t>1)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/>
                              </a:rPr>
                              <m:t>𝑎</m:t>
                            </m:r>
                            <m:r>
                              <a:rPr lang="en-US" sz="1800" b="0" i="1" smtClean="0">
                                <a:latin typeface="Cambria Math"/>
                              </a:rPr>
                              <m:t>2−</m:t>
                            </m:r>
                            <m:r>
                              <a:rPr lang="en-US" sz="1800" b="0" i="1" smtClean="0">
                                <a:latin typeface="Cambria Math"/>
                              </a:rPr>
                              <m:t>𝑏</m:t>
                            </m:r>
                            <m:r>
                              <a:rPr lang="en-US" sz="1800" b="0" i="1" smtClean="0">
                                <a:latin typeface="Cambria Math"/>
                              </a:rPr>
                              <m:t>2)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 we find the euclidean distance between feature of query image and feature database</a:t>
                </a:r>
              </a:p>
              <a:p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find the features with minimum euclidean distance from the feature dataset</a:t>
                </a:r>
              </a:p>
              <a:p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 the images corresponding to minimum euclidean distance and displays them as similar products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95350"/>
                <a:ext cx="8229600" cy="3962400"/>
              </a:xfrm>
              <a:blipFill rotWithShape="1">
                <a:blip r:embed="rId2"/>
                <a:stretch>
                  <a:fillRect l="-444" t="-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2567835"/>
            <a:ext cx="7620001" cy="1419911"/>
          </a:xfrm>
          <a:prstGeom prst="rect">
            <a:avLst/>
          </a:prstGeom>
          <a:solidFill>
            <a:srgbClr val="00B0F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4600"/>
              </a:lnSpc>
              <a:spcBef>
                <a:spcPct val="0"/>
              </a:spcBef>
              <a:defRPr/>
            </a:pPr>
            <a:r>
              <a:rPr lang="en-US" sz="4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01" y="2567835"/>
            <a:ext cx="1534632" cy="1419911"/>
          </a:xfrm>
          <a:prstGeom prst="rect">
            <a:avLst/>
          </a:prstGeom>
          <a:solidFill>
            <a:srgbClr val="0070C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8265211" y="3068240"/>
            <a:ext cx="310117" cy="419100"/>
          </a:xfrm>
          <a:prstGeom prst="rightArrow">
            <a:avLst>
              <a:gd name="adj1" fmla="val 53931"/>
              <a:gd name="adj2" fmla="val 7656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9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babraha\Pictures\im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47750"/>
            <a:ext cx="51816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product from database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>
            <a:off x="1524000" y="2266950"/>
            <a:ext cx="3048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1000" y="1851451"/>
            <a:ext cx="129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image which is either from hard-disk or from camera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7010400" y="2190750"/>
            <a:ext cx="2286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5312" y="1775251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 products which are most similar to the query product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16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product from database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:\Users\ababraha\Pictures\im17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47750"/>
            <a:ext cx="51816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524000" y="2266950"/>
            <a:ext cx="3048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1851451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image which is either from hard-disk or from camera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7010400" y="2190750"/>
            <a:ext cx="2286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5312" y="1775251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 products which are most similar to the query product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63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babraha\Pictures\im4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47750"/>
            <a:ext cx="51816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1000" y="28575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product not in database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524000" y="2266950"/>
            <a:ext cx="3048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600" y="1851451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image which is either from hard-disk or from camera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7010400" y="2190750"/>
            <a:ext cx="2286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05312" y="1775251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 products which are most similar to the query product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788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1000" y="28575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product not in database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524000" y="2266950"/>
            <a:ext cx="3048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4800" y="1851451"/>
            <a:ext cx="129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image which is either from hard-disk or from camera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7010400" y="2190750"/>
            <a:ext cx="2286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5312" y="1775251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 products which are most similar to the query product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:\Users\ababraha\Pictures\im112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047751"/>
            <a:ext cx="51816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76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2179"/>
            <a:ext cx="7380000" cy="46077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with description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:\Users\ababraha\Pictures\im8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47750"/>
            <a:ext cx="55626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752600" y="4552950"/>
            <a:ext cx="556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T-shirts with its full details are displayed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784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babraha\Pictures\im6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47750"/>
            <a:ext cx="5650062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82179"/>
            <a:ext cx="7380000" cy="46077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with description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52600" y="4552950"/>
            <a:ext cx="556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 bags with its full details are displayed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7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82179"/>
            <a:ext cx="7924800" cy="61317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with blurred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C:\Users\ababraha\Pictures\im76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352550"/>
            <a:ext cx="39624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885068" y="971550"/>
            <a:ext cx="166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Groundtruth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C:\Users\ababraha\Pictures\im88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52550"/>
            <a:ext cx="41910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80198" y="97155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Blurred 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4480779"/>
            <a:ext cx="845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 we add Gaussian blur to image and got same result as original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94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2179"/>
            <a:ext cx="7924800" cy="61317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with noisy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C:\Users\ababraha\Pictures\im80_15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52550"/>
            <a:ext cx="41910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C:\Users\ababraha\Pictures\im76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352550"/>
            <a:ext cx="39624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80198" y="971550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Noisy 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85068" y="971550"/>
            <a:ext cx="166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Groundtruth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4480779"/>
            <a:ext cx="845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 we add 15% of Gaussian noise to image and got same result as original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5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babraha\Pictures\im80_25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52550"/>
            <a:ext cx="41910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282179"/>
            <a:ext cx="7924800" cy="61317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with noisy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C:\Users\ababraha\Pictures\im76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352550"/>
            <a:ext cx="39624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80198" y="971550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Noisy 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85068" y="971550"/>
            <a:ext cx="166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Groundtruth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1000" y="4480779"/>
            <a:ext cx="845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 we add 25% of Gaussian noise to image and result got changed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08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5750"/>
            <a:ext cx="8382000" cy="61317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with incomplete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C:\Users\ababraha\Pictures\im75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80" y="1352550"/>
            <a:ext cx="419522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ababraha\Pictures\im76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352550"/>
            <a:ext cx="39624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0198" y="971550"/>
            <a:ext cx="1868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85068" y="971550"/>
            <a:ext cx="166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Groundtruth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77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5750"/>
            <a:ext cx="8382000" cy="61317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with incomplete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C:\Users\ababraha\Pictures\im77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98" y="1352550"/>
            <a:ext cx="4191802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C:\Users\ababraha\Pictures\im76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352550"/>
            <a:ext cx="39624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80198" y="971550"/>
            <a:ext cx="1868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85068" y="971550"/>
            <a:ext cx="166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Groundtruth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41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5750"/>
            <a:ext cx="8382000" cy="61317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with incomplete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C:\Users\ababraha\Pictures\im79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98" y="1352551"/>
            <a:ext cx="4191802" cy="312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C:\Users\ababraha\Pictures\im76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352550"/>
            <a:ext cx="39624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80198" y="971550"/>
            <a:ext cx="1868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85068" y="971550"/>
            <a:ext cx="166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Groundtruth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76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85750"/>
            <a:ext cx="8382000" cy="61317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of different category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2204" y="4552950"/>
            <a:ext cx="7084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 the product identified as BURGER and is out of database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C:\Users\ababraha\Pictures\im86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00149"/>
            <a:ext cx="4724400" cy="326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30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babraha\Pictures\im85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00151"/>
            <a:ext cx="4724399" cy="3276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285750"/>
            <a:ext cx="8382000" cy="61317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of different category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2204" y="4552950"/>
            <a:ext cx="7084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 the product identified as TELEVISION and is out of database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87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and Future work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04950"/>
            <a:ext cx="8229600" cy="3047999"/>
          </a:xfrm>
        </p:spPr>
        <p:txBody>
          <a:bodyPr/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implements a good method for finding the similar products using deep learning and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 search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modified by adding additional features such as color features, shape features and texture features.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modified by using deep learning methods for feature extraction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training on more products to be performed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Extensive testing to be performed on more product images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199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73735" y="4636081"/>
            <a:ext cx="1332038" cy="241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95300" indent="-495300" algn="ctr">
              <a:lnSpc>
                <a:spcPct val="114000"/>
              </a:lnSpc>
              <a:buNone/>
            </a:pPr>
            <a:r>
              <a:rPr lang="it-IT" sz="900" dirty="0">
                <a:cs typeface="Arial" pitchFamily="34" charset="0"/>
              </a:rPr>
              <a:t>Your Phone #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6357" y="4627104"/>
            <a:ext cx="1284326" cy="2501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95300" indent="-495300" algn="ctr">
              <a:lnSpc>
                <a:spcPct val="114000"/>
              </a:lnSpc>
              <a:buNone/>
            </a:pPr>
            <a:r>
              <a:rPr lang="it-IT" sz="900" dirty="0">
                <a:cs typeface="Arial" pitchFamily="34" charset="0"/>
              </a:rPr>
              <a:t>contact@applexus.com</a:t>
            </a:r>
          </a:p>
        </p:txBody>
      </p:sp>
    </p:spTree>
    <p:extLst>
      <p:ext uri="{BB962C8B-B14F-4D97-AF65-F5344CB8AC3E}">
        <p14:creationId xmlns:p14="http://schemas.microsoft.com/office/powerpoint/2010/main" val="2282636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4209</TotalTime>
  <Words>1245</Words>
  <Application>Microsoft Office PowerPoint</Application>
  <PresentationFormat>On-screen Show (16:9)</PresentationFormat>
  <Paragraphs>153</Paragraphs>
  <Slides>38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PowerPoint Presentation</vt:lpstr>
      <vt:lpstr>Introduction</vt:lpstr>
      <vt:lpstr>Block Diagram</vt:lpstr>
      <vt:lpstr>Block Diagram Description</vt:lpstr>
      <vt:lpstr>Business use case</vt:lpstr>
      <vt:lpstr>Product Images Database</vt:lpstr>
      <vt:lpstr>Product Images Database</vt:lpstr>
      <vt:lpstr>Product Images Database</vt:lpstr>
      <vt:lpstr>Product Images Database</vt:lpstr>
      <vt:lpstr>Image Pre-processing</vt:lpstr>
      <vt:lpstr>Image Pre-processing</vt:lpstr>
      <vt:lpstr>Image Pre-processing</vt:lpstr>
      <vt:lpstr>Deep Learning Model</vt:lpstr>
      <vt:lpstr>Deep Learning Model</vt:lpstr>
      <vt:lpstr>Deep Learning Model</vt:lpstr>
      <vt:lpstr>Product Identification</vt:lpstr>
      <vt:lpstr>Hog Feature Extraction</vt:lpstr>
      <vt:lpstr>Hog Feature Extraction</vt:lpstr>
      <vt:lpstr>Feature Dataset</vt:lpstr>
      <vt:lpstr>Similarity Measurement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Products with description</vt:lpstr>
      <vt:lpstr>Products with description</vt:lpstr>
      <vt:lpstr>Product with blurred image</vt:lpstr>
      <vt:lpstr>Product with noisy image</vt:lpstr>
      <vt:lpstr>Product with noisy image</vt:lpstr>
      <vt:lpstr>Product with incomplete image</vt:lpstr>
      <vt:lpstr>Product with incomplete image</vt:lpstr>
      <vt:lpstr>Product with incomplete image</vt:lpstr>
      <vt:lpstr>Product of different category</vt:lpstr>
      <vt:lpstr>Product of different category</vt:lpstr>
      <vt:lpstr>Conclusions and Future work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Aravind Vijayan</dc:creator>
  <cp:lastModifiedBy>Abin Abraham</cp:lastModifiedBy>
  <cp:revision>205</cp:revision>
  <dcterms:created xsi:type="dcterms:W3CDTF">2017-07-04T09:26:12Z</dcterms:created>
  <dcterms:modified xsi:type="dcterms:W3CDTF">2018-01-19T05:36:38Z</dcterms:modified>
</cp:coreProperties>
</file>